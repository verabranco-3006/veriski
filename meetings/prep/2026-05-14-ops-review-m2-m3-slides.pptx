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 2 — speaker framing:</a:t>
            </a:r>
          </a:p>
          <a:p>
            <a:r>
              <a:t>• Vision: catalog-driven, role-accountable, automated, measurable end-to-end.</a:t>
            </a:r>
          </a:p>
          <a:p>
            <a:r>
              <a:t>• 3 pillars cover all 6 submethods:</a:t>
            </a:r>
          </a:p>
          <a:p>
            <a:r>
              <a:t>   - Pipeline Integrity = M2.1 Catalog + M2.2 Role Accountability</a:t>
            </a:r>
          </a:p>
          <a:p>
            <a:r>
              <a:t>   - Standard Promotion = M2.3 Standards + M2.6 Lifecycle Automation</a:t>
            </a:r>
          </a:p>
          <a:p>
            <a:r>
              <a:t>   - CFR Correlation = M2.4 Correlation + M2.5 Pipeline</a:t>
            </a:r>
          </a:p>
          <a:p>
            <a:r>
              <a:t>• Numbers on the slide are forward-looking targets. CONFIRM WITH LAURA before publication.</a:t>
            </a:r>
          </a:p>
          <a:p>
            <a:r>
              <a:t>• Supporting baseline numbers if asked: 731 RFCs → 992 mutations (2025, 1.35x); 45h review+approval lead time; 70.59h ghost time in 'Implementing'.</a:t>
            </a:r>
          </a:p>
          <a:p>
            <a:r>
              <a:t>• Status today: M2.1 Foundations in flight (1,800 → 26 → 61 operation types); M2.5 docs complete.</a:t>
            </a:r>
          </a:p>
          <a:p>
            <a:r>
              <a:t>• Source: v2mom_definition/method_2_strategic_document.md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 3 — speaker framing:</a:t>
            </a:r>
          </a:p>
          <a:p>
            <a:r>
              <a:t>• Vision: auditable triage, transparent response, systematic learning.</a:t>
            </a:r>
          </a:p>
          <a:p>
            <a:r>
              <a:t>• 3 pillars regroup 4 underlying problems across 6 submethods:</a:t>
            </a:r>
          </a:p>
          <a:p>
            <a:r>
              <a:t>   - Classify Intake = M3.3 Triage + M3.6 Event Management</a:t>
            </a:r>
          </a:p>
          <a:p>
            <a:r>
              <a:t>     (Two new framings: SI vs Support Case operating models; declare false negatives.)</a:t>
            </a:r>
          </a:p>
          <a:p>
            <a:r>
              <a:t>   - Govern Response = M3.1 Failure Mgmt Governance + M3.2 Status Page Governance</a:t>
            </a:r>
          </a:p>
          <a:p>
            <a:r>
              <a:t>   - Close the Loop = M3.4 Problem Management + M3.5 Retrospective Transformation</a:t>
            </a:r>
          </a:p>
          <a:p>
            <a:r>
              <a:t>• Numbers on the slide are forward-looking targets. CONFIRM WITH INÊS before publication:</a:t>
            </a:r>
          </a:p>
          <a:p>
            <a:r>
              <a:t>   - 30m Public MTTA; &gt; 80% Triage Accuracy; &gt; 90% Problem Coverage; 14d Avg. RCA Lead Time (vs 72d baseline)</a:t>
            </a:r>
          </a:p>
          <a:p>
            <a:r>
              <a:t>   - 85% Alert Validation (Event Mgmt Filter); &gt; 95% Incident Response Maturity Assessment</a:t>
            </a:r>
          </a:p>
          <a:p>
            <a:r>
              <a:t>• Supporting baseline numbers if asked: 44% of system-wide incidents had zero comms; 7% followed the full lifecycle; 72-day avg retro lead time; 63% of retros reviewed by 2 people.</a:t>
            </a:r>
          </a:p>
          <a:p>
            <a:r>
              <a:t>• Source: Confluence PE-STRAT-05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Obstacles &amp; Next Steps — speaker framing:</a:t>
            </a:r>
          </a:p>
          <a:p>
            <a:r>
              <a:t>• Obstacles are pulled from Gemini's deck framing. CONFIRM whether they reflect your view before delivering — especially the 'AI Skill Gap' framing.</a:t>
            </a:r>
          </a:p>
          <a:p>
            <a:r>
              <a:t>• Next steps tie the deck to action: target confirmation, sequencing, stakeholder alignment, and the 2027 metrics blueprint.</a:t>
            </a:r>
          </a:p>
          <a:p>
            <a:r>
              <a:t>• Land: this is a strategy briefing, the next concrete step is target sign-off with Laura and Inês.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08792" cy="1828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4400" b="1">
                <a:solidFill>
                  <a:srgbClr val="1E3A8A"/>
                </a:solidFill>
                <a:latin typeface="Calibri"/>
              </a:rPr>
              <a:t>STRATEGIC OPERATIONS</a:t>
            </a:r>
          </a:p>
          <a:p>
            <a:r>
              <a:rPr sz="4400" b="1">
                <a:solidFill>
                  <a:srgbClr val="1E3A8A"/>
                </a:solidFill>
                <a:latin typeface="Calibri"/>
              </a:rPr>
              <a:t>EFFICIENCY &amp; RESILIENCE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11480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10908792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4B5563"/>
                </a:solidFill>
                <a:latin typeface="Calibri"/>
              </a:rPr>
              <a:t>Methods 2 &amp; 3 — V2MOM Briefing</a:t>
            </a:r>
          </a:p>
          <a:p>
            <a:r>
              <a:rPr sz="1800" b="0">
                <a:solidFill>
                  <a:srgbClr val="4B5563"/>
                </a:solidFill>
                <a:latin typeface="Calibri"/>
              </a:rPr>
              <a:t>Process Engineering · Ops Review · 2026-05-14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908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7B8799"/>
                </a:solidFill>
                <a:latin typeface="Calibri"/>
              </a:rPr>
              <a:t>Speaker: Vera Branco · Team Lead, Process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E3A8A"/>
                </a:solidFill>
                <a:latin typeface="Calibri"/>
              </a:rPr>
              <a:t>METHOD 2: TRANSFORM CHANGE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Calibri"/>
              </a:rPr>
              <a:t>Catalog-driven, role-accountable, automated, and measurable end-to-end.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74552" cy="9525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47548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Calibri"/>
              </a:rPr>
              <a:t>Strategic Pillars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0">
                <a:solidFill>
                  <a:srgbClr val="FFFFFF"/>
                </a:solidFill>
                <a:latin typeface="Segoe UI Symbol"/>
              </a:rPr>
              <a:t>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30552"/>
            <a:ext cx="4069080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Calibri"/>
              </a:rPr>
              <a:t>Pipeline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96312"/>
            <a:ext cx="406908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Calibri"/>
              </a:rPr>
              <a:t>Unify the Change Catalog and lock accountability across the 4 CM roles. Eliminate shadow changes and close the Invisible Risk Surface. Covers M2.1 + M2.2.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39312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0">
                <a:solidFill>
                  <a:srgbClr val="FFFFFF"/>
                </a:solidFill>
                <a:latin typeface="Segoe UI Symbol"/>
              </a:rPr>
              <a:t>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621024"/>
            <a:ext cx="4069080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Calibri"/>
              </a:rPr>
              <a:t>Standard Promotion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86784"/>
            <a:ext cx="406908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Calibri"/>
              </a:rPr>
              <a:t>Discovery ritual plus Lifecycle Automation. Mature Normals graduate to Standards; routine changes flow through automation, not SRE toil. Covers M2.3 + M2.6.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29784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0">
                <a:solidFill>
                  <a:srgbClr val="FFFFFF"/>
                </a:solidFill>
                <a:latin typeface="Segoe UI Symbol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111496"/>
            <a:ext cx="4069080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Calibri"/>
              </a:rPr>
              <a:t>CFR Correlation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77256"/>
            <a:ext cx="406908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Calibri"/>
              </a:rPr>
              <a:t>RFC ↔ incident link at asset-version level. CFR becomes a number Engineering Leadership trusts and acts on. Covers M2.4 + M2.5.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691640"/>
            <a:ext cx="585216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Calibri"/>
              </a:rPr>
              <a:t>Success Measures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2148840"/>
            <a:ext cx="2843784" cy="105156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25312" y="2313432"/>
            <a:ext cx="64008" cy="7223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286000"/>
            <a:ext cx="2523744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000" b="1">
                <a:solidFill>
                  <a:srgbClr val="1E3A8A"/>
                </a:solidFill>
                <a:latin typeface="Calibri"/>
              </a:rP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834640"/>
            <a:ext cx="252374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50" b="1">
                <a:solidFill>
                  <a:srgbClr val="7B8799"/>
                </a:solidFill>
                <a:latin typeface="Calibri"/>
              </a:rPr>
              <a:t>LEAD TIME REDUCTION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0536" y="2148840"/>
            <a:ext cx="2843784" cy="105156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933688" y="2313432"/>
            <a:ext cx="64008" cy="7223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2286000"/>
            <a:ext cx="2523744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000" b="1">
                <a:solidFill>
                  <a:srgbClr val="1E3A8A"/>
                </a:solidFill>
                <a:latin typeface="Calibri"/>
              </a:rPr>
              <a:t>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834640"/>
            <a:ext cx="252374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50" b="1">
                <a:solidFill>
                  <a:srgbClr val="7B8799"/>
                </a:solidFill>
                <a:latin typeface="Calibri"/>
              </a:rPr>
              <a:t>STANDARD CHANGE VOL.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3364992"/>
            <a:ext cx="2843784" cy="105156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925312" y="3529584"/>
            <a:ext cx="64008" cy="7223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502152"/>
            <a:ext cx="2523744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000" b="1">
                <a:solidFill>
                  <a:srgbClr val="1E3A8A"/>
                </a:solidFill>
                <a:latin typeface="Calibri"/>
              </a:rPr>
              <a:t>90%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050792"/>
            <a:ext cx="252374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50" b="1">
                <a:solidFill>
                  <a:srgbClr val="7B8799"/>
                </a:solidFill>
                <a:latin typeface="Calibri"/>
              </a:rPr>
              <a:t>CFR CORRELATION ACCURACY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0536" y="3364992"/>
            <a:ext cx="2843784" cy="105156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933688" y="3529584"/>
            <a:ext cx="64008" cy="7223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34856" y="3502152"/>
            <a:ext cx="2523744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000" b="1">
                <a:solidFill>
                  <a:srgbClr val="1E3A8A"/>
                </a:solidFill>
                <a:latin typeface="Calibri"/>
              </a:rPr>
              <a:t>&lt; 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4856" y="4050792"/>
            <a:ext cx="252374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50" b="1">
                <a:solidFill>
                  <a:srgbClr val="7B8799"/>
                </a:solidFill>
                <a:latin typeface="Calibri"/>
              </a:rPr>
              <a:t>UNCATALOGUED OPERATIONS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4645152"/>
            <a:ext cx="585216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 b="1">
                <a:solidFill>
                  <a:srgbClr val="2F8F6F"/>
                </a:solidFill>
                <a:latin typeface="Calibri"/>
              </a:rPr>
              <a:t>What success looks like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52160" y="5010912"/>
            <a:ext cx="5852160" cy="138988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035040" y="5120640"/>
            <a:ext cx="5486400" cy="1170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2F8F6F"/>
                </a:solidFill>
                <a:latin typeface="Calibri"/>
              </a:rPr>
              <a:t>✓  </a:t>
            </a:r>
            <a:r>
              <a:rPr sz="1050" b="0">
                <a:solidFill>
                  <a:srgbClr val="4B5563"/>
                </a:solidFill>
                <a:latin typeface="Calibri"/>
              </a:rPr>
              <a:t>Every change traces to a defined catalog article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F8F6F"/>
                </a:solidFill>
                <a:latin typeface="Calibri"/>
              </a:rPr>
              <a:t>✓  </a:t>
            </a:r>
            <a:r>
              <a:rPr sz="1050" b="0">
                <a:solidFill>
                  <a:srgbClr val="4B5563"/>
                </a:solidFill>
                <a:latin typeface="Calibri"/>
              </a:rPr>
              <a:t>Each of the 4 CM roles has sharp scope and a refusal mechanism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F8F6F"/>
                </a:solidFill>
                <a:latin typeface="Calibri"/>
              </a:rPr>
              <a:t>✓  </a:t>
            </a:r>
            <a:r>
              <a:rPr sz="1050" b="0">
                <a:solidFill>
                  <a:srgbClr val="4B5563"/>
                </a:solidFill>
                <a:latin typeface="Calibri"/>
              </a:rPr>
              <a:t>Standards flow through automation; SRE shifts to reliability owner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F8F6F"/>
                </a:solidFill>
                <a:latin typeface="Calibri"/>
              </a:rPr>
              <a:t>✓  </a:t>
            </a:r>
            <a:r>
              <a:rPr sz="1050" b="0">
                <a:solidFill>
                  <a:srgbClr val="4B5563"/>
                </a:solidFill>
                <a:latin typeface="Calibri"/>
              </a:rPr>
              <a:t>CFR is a trusted signal Engineering Leadership acts 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601968"/>
            <a:ext cx="112745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7B8799"/>
                </a:solidFill>
                <a:latin typeface="Calibri"/>
              </a:rPr>
              <a:t>Process Engineering · V2MOM Ops Review · 2026-05-14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E3A8A"/>
                </a:solidFill>
                <a:latin typeface="Calibri"/>
              </a:rPr>
              <a:t>METHOD 3: INCIDENT RESPONSE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Calibri"/>
              </a:rPr>
              <a:t>Auditable triage, transparent response, systematic learning.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74552" cy="9525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47548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Calibri"/>
              </a:rPr>
              <a:t>Strategic Pillars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0">
                <a:solidFill>
                  <a:srgbClr val="FFFFFF"/>
                </a:solidFill>
                <a:latin typeface="Segoe UI Symbol"/>
              </a:rPr>
              <a:t>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30552"/>
            <a:ext cx="4069080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Calibri"/>
              </a:rPr>
              <a:t>Classify 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96312"/>
            <a:ext cx="406908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Calibri"/>
              </a:rPr>
              <a:t>Define operating models for Service Incidents vs Support Cases. Make the alert-to-incident path explicit so false negatives can be declared. Covers M3.3 + M3.6.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39312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0">
                <a:solidFill>
                  <a:srgbClr val="FFFFFF"/>
                </a:solidFill>
                <a:latin typeface="Segoe UI Symbol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621024"/>
            <a:ext cx="4069080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Calibri"/>
              </a:rPr>
              <a:t>Govern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86784"/>
            <a:ext cx="406908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Calibri"/>
              </a:rPr>
              <a:t>Failure Management Governance and Status Page Governance. Visibility on every system-wide incident, end-to-end. Covers M3.1 + M3.2.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29784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0">
                <a:solidFill>
                  <a:srgbClr val="FFFFFF"/>
                </a:solidFill>
                <a:latin typeface="Segoe UI Symbol"/>
              </a:rPr>
              <a:t>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111496"/>
            <a:ext cx="4069080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Calibri"/>
              </a:rPr>
              <a:t>Close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77256"/>
            <a:ext cx="406908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Calibri"/>
              </a:rPr>
              <a:t>Team-led retrospectives and Problem Management. Recurring failures convert into structural fixes. Covers M3.4 + M3.5.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691640"/>
            <a:ext cx="585216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Calibri"/>
              </a:rPr>
              <a:t>Resilience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2148840"/>
            <a:ext cx="2843784" cy="105156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25312" y="2313432"/>
            <a:ext cx="64008" cy="7223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286000"/>
            <a:ext cx="2523744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000" b="1">
                <a:solidFill>
                  <a:srgbClr val="1E3A8A"/>
                </a:solidFill>
                <a:latin typeface="Calibri"/>
              </a:rPr>
              <a:t>30m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834640"/>
            <a:ext cx="252374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50" b="1">
                <a:solidFill>
                  <a:srgbClr val="7B8799"/>
                </a:solidFill>
                <a:latin typeface="Calibri"/>
              </a:rPr>
              <a:t>PUBLIC MTTA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0536" y="2148840"/>
            <a:ext cx="2843784" cy="105156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933688" y="2313432"/>
            <a:ext cx="64008" cy="7223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2286000"/>
            <a:ext cx="2523744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000" b="1">
                <a:solidFill>
                  <a:srgbClr val="1E3A8A"/>
                </a:solidFill>
                <a:latin typeface="Calibri"/>
              </a:rPr>
              <a:t>&gt; 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834640"/>
            <a:ext cx="252374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50" b="1">
                <a:solidFill>
                  <a:srgbClr val="7B8799"/>
                </a:solidFill>
                <a:latin typeface="Calibri"/>
              </a:rPr>
              <a:t>TRIAGE ACCURACY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3364992"/>
            <a:ext cx="2843784" cy="105156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925312" y="3529584"/>
            <a:ext cx="64008" cy="7223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502152"/>
            <a:ext cx="2523744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000" b="1">
                <a:solidFill>
                  <a:srgbClr val="1E3A8A"/>
                </a:solidFill>
                <a:latin typeface="Calibri"/>
              </a:rPr>
              <a:t>14d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050792"/>
            <a:ext cx="252374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50" b="1">
                <a:solidFill>
                  <a:srgbClr val="7B8799"/>
                </a:solidFill>
                <a:latin typeface="Calibri"/>
              </a:rPr>
              <a:t>AVG. RCA LEAD 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0536" y="3364992"/>
            <a:ext cx="2843784" cy="105156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933688" y="3529584"/>
            <a:ext cx="64008" cy="7223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34856" y="3502152"/>
            <a:ext cx="2523744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000" b="1">
                <a:solidFill>
                  <a:srgbClr val="1E3A8A"/>
                </a:solidFill>
                <a:latin typeface="Calibri"/>
              </a:rPr>
              <a:t>&gt; 90%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4856" y="4050792"/>
            <a:ext cx="2523744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50" b="1">
                <a:solidFill>
                  <a:srgbClr val="7B8799"/>
                </a:solidFill>
                <a:latin typeface="Calibri"/>
              </a:rPr>
              <a:t>PROBLEM COVERAGE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4645152"/>
            <a:ext cx="585216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 b="1">
                <a:solidFill>
                  <a:srgbClr val="2F8F6F"/>
                </a:solidFill>
                <a:latin typeface="Calibri"/>
              </a:rPr>
              <a:t>What success looks like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52160" y="5010912"/>
            <a:ext cx="5852160" cy="138988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035040" y="5120640"/>
            <a:ext cx="5486400" cy="11704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2F8F6F"/>
                </a:solidFill>
                <a:latin typeface="Calibri"/>
              </a:rPr>
              <a:t>✓  </a:t>
            </a:r>
            <a:r>
              <a:rPr sz="1050" b="0">
                <a:solidFill>
                  <a:srgbClr val="4B5563"/>
                </a:solidFill>
                <a:latin typeface="Calibri"/>
              </a:rPr>
              <a:t>SI and Support Cases each have a defined operating model and OLAs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F8F6F"/>
                </a:solidFill>
                <a:latin typeface="Calibri"/>
              </a:rPr>
              <a:t>✓  </a:t>
            </a:r>
            <a:r>
              <a:rPr sz="1050" b="0">
                <a:solidFill>
                  <a:srgbClr val="4B5563"/>
                </a:solidFill>
                <a:latin typeface="Calibri"/>
              </a:rPr>
              <a:t>Alerts have a defined path to declaration — no silent false negatives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F8F6F"/>
                </a:solidFill>
                <a:latin typeface="Calibri"/>
              </a:rPr>
              <a:t>✓  </a:t>
            </a:r>
            <a:r>
              <a:rPr sz="1050" b="0">
                <a:solidFill>
                  <a:srgbClr val="4B5563"/>
                </a:solidFill>
                <a:latin typeface="Calibri"/>
              </a:rPr>
              <a:t>Status Page reflects every system-wide incident lifecycle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F8F6F"/>
                </a:solidFill>
                <a:latin typeface="Calibri"/>
              </a:rPr>
              <a:t>✓  </a:t>
            </a:r>
            <a:r>
              <a:rPr sz="1050" b="0">
                <a:solidFill>
                  <a:srgbClr val="4B5563"/>
                </a:solidFill>
                <a:latin typeface="Calibri"/>
              </a:rPr>
              <a:t>Retros team-led, closed within target lead time; Problem Mgmt closes the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601968"/>
            <a:ext cx="112745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7B8799"/>
                </a:solidFill>
                <a:latin typeface="Calibri"/>
              </a:rPr>
              <a:t>Process Engineering · V2MOM Ops Review · 2026-05-14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1E3A8A"/>
                </a:solidFill>
                <a:latin typeface="Calibri"/>
              </a:rPr>
              <a:t>OPERATIONAL READINESS &amp; OBSTACLES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Calibri"/>
              </a:rPr>
              <a:t>What stands between the strategy and execution, and what we do next.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74552" cy="9525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39496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Calibri"/>
              </a:rPr>
              <a:t>Key Obstacles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0">
                <a:solidFill>
                  <a:srgbClr val="FFFFFF"/>
                </a:solidFill>
                <a:latin typeface="Segoe UI Symbol"/>
              </a:rPr>
              <a:t>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30552"/>
            <a:ext cx="4709160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Calibri"/>
              </a:rPr>
              <a:t>AI Skill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96312"/>
            <a:ext cx="470916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Calibri"/>
              </a:rPr>
              <a:t>Mastering Process-as-Code platforms across the team. Capability ramp needed to operate the new motion at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39312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0">
                <a:solidFill>
                  <a:srgbClr val="FFFFFF"/>
                </a:solidFill>
                <a:latin typeface="Segoe UI Symbol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621024"/>
            <a:ext cx="4709160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Calibri"/>
              </a:rPr>
              <a:t>Data 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86784"/>
            <a:ext cx="470916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Calibri"/>
              </a:rPr>
              <a:t>Trust in automated correlation logic. Data quality has to land before CFR can be acted on by Engineering Leadership.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29784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0">
                <a:solidFill>
                  <a:srgbClr val="FFFFFF"/>
                </a:solidFill>
                <a:latin typeface="Segoe UI Symbol"/>
              </a:rPr>
              <a:t>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111496"/>
            <a:ext cx="4709160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Calibri"/>
              </a:rPr>
              <a:t>Cross-Org Dependencies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77256"/>
            <a:ext cx="470916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Calibri"/>
              </a:rPr>
              <a:t>SRE, GS, and Engineering alignment on operating models. Decision rights need to be settled with sponsors early.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91640"/>
            <a:ext cx="557784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Calibri"/>
              </a:rPr>
              <a:t>Next Steps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148840"/>
            <a:ext cx="5577840" cy="41148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2286000"/>
            <a:ext cx="5120640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</a:pPr>
            <a:r>
              <a:rPr sz="1400" b="1">
                <a:solidFill>
                  <a:srgbClr val="2563EB"/>
                </a:solidFill>
                <a:latin typeface="Calibri"/>
              </a:rPr>
              <a:t>▸  </a:t>
            </a:r>
            <a:r>
              <a:rPr sz="1300" b="1">
                <a:solidFill>
                  <a:srgbClr val="1E3A8A"/>
                </a:solidFill>
                <a:latin typeface="Calibri"/>
              </a:rPr>
              <a:t>Confirm targets with method owners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B5563"/>
                </a:solidFill>
                <a:latin typeface="Calibri"/>
              </a:rPr>
              <a:t>      Laura validates M2 measures; Inês validates M3 measures before any external publication.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563EB"/>
                </a:solidFill>
                <a:latin typeface="Calibri"/>
              </a:rPr>
              <a:t>▸  </a:t>
            </a:r>
            <a:r>
              <a:rPr sz="1300" b="1">
                <a:solidFill>
                  <a:srgbClr val="1E3A8A"/>
                </a:solidFill>
                <a:latin typeface="Calibri"/>
              </a:rPr>
              <a:t>Sequence dependencies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B5563"/>
                </a:solidFill>
                <a:latin typeface="Calibri"/>
              </a:rPr>
              <a:t>      M2: Foundations first. M3: Classify Intake first (M3.3 + M3.6 unblocks the rest).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563EB"/>
                </a:solidFill>
                <a:latin typeface="Calibri"/>
              </a:rPr>
              <a:t>▸  </a:t>
            </a:r>
            <a:r>
              <a:rPr sz="1300" b="1">
                <a:solidFill>
                  <a:srgbClr val="1E3A8A"/>
                </a:solidFill>
                <a:latin typeface="Calibri"/>
              </a:rPr>
              <a:t>Stakeholder alignment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B5563"/>
                </a:solidFill>
                <a:latin typeface="Calibri"/>
              </a:rPr>
              <a:t>      VS Leader pre-reads on operating models for SI vs Support Case and Event Mgmt declaration.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563EB"/>
                </a:solidFill>
                <a:latin typeface="Calibri"/>
              </a:rPr>
              <a:t>▸  </a:t>
            </a:r>
            <a:r>
              <a:rPr sz="1300" b="1">
                <a:solidFill>
                  <a:srgbClr val="1E3A8A"/>
                </a:solidFill>
                <a:latin typeface="Calibri"/>
              </a:rPr>
              <a:t>2027 Strategic Metrics Blueprint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B5563"/>
                </a:solidFill>
                <a:latin typeface="Calibri"/>
              </a:rPr>
              <a:t>      Finalize the measurement layer that ties M2 and M3 outcomes to leadership decision-making.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601968"/>
            <a:ext cx="112745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7B8799"/>
                </a:solidFill>
                <a:latin typeface="Calibri"/>
              </a:rPr>
              <a:t>Process Engineering · V2MOM Ops Review · 2026-05-14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